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Release Frequency Journey  ·  Releases/Month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Release Frequency</c:v>
                </c:pt>
              </c:strCache>
            </c:strRef>
          </c:tx>
          <c:spPr>
            <a:solidFill>
              <a:srgbClr val="E845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45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244C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775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AAC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B87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Today</c:v>
                  </c:pt>
                  <c:pt idx="1">
                    <c:v>Phase 1
Mar–Apr</c:v>
                  </c:pt>
                  <c:pt idx="2">
                    <c:v>Phase 2
May–Jul</c:v>
                  </c:pt>
                  <c:pt idx="3">
                    <c:v>Phase 3
Aug–Oct</c:v>
                  </c:pt>
                  <c:pt idx="4">
                    <c:v>Phase 4
Nov–Dec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90</c:v>
                </c:pt>
                <c:pt idx="2">
                  <c:v>160</c:v>
                </c:pt>
                <c:pt idx="3">
                  <c:v>225</c:v>
                </c:pt>
                <c:pt idx="4">
                  <c:v>280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0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A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0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224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LTDD Journey  ·  Days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LTDD</c:v>
                </c:pt>
              </c:strCache>
            </c:strRef>
          </c:tx>
          <c:spPr>
            <a:solidFill>
              <a:srgbClr val="F5A623"/>
            </a:solidFill>
            <a:ln w="38100" cap="flat">
              <a:solidFill>
                <a:srgbClr val="F5A62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Today</c:v>
                  </c:pt>
                  <c:pt idx="1">
                    <c:v>Mar–Apr</c:v>
                  </c:pt>
                  <c:pt idx="2">
                    <c:v>May–Jul</c:v>
                  </c:pt>
                  <c:pt idx="3">
                    <c:v>Aug–Oct</c:v>
                  </c:pt>
                  <c:pt idx="4">
                    <c:v>Nov–Dec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5.5</c:v>
                </c:pt>
                <c:pt idx="2">
                  <c:v>3.8</c:v>
                </c:pt>
                <c:pt idx="3">
                  <c:v>2.5</c:v>
                </c:pt>
                <c:pt idx="4">
                  <c:v>1.8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0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A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0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22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E56B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0"/>
            <a:ext cx="914400" cy="5143500"/>
          </a:xfrm>
          <a:prstGeom prst="rect">
            <a:avLst/>
          </a:prstGeom>
          <a:solidFill>
            <a:srgbClr val="00C5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5E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4008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5568" y="6583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5E0"/>
                </a:solidFill>
              </a:rPr>
              <a:t>LEADERSHIP PROPOSAL  ·  2026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1148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DevOps</a:t>
            </a:r>
            <a:endParaRPr lang="en-US" sz="7400" dirty="0"/>
          </a:p>
        </p:txBody>
      </p:sp>
      <p:sp>
        <p:nvSpPr>
          <p:cNvPr id="8" name="Text 5"/>
          <p:cNvSpPr/>
          <p:nvPr/>
        </p:nvSpPr>
        <p:spPr>
          <a:xfrm>
            <a:off x="411480" y="2103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00C5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Transformation</a:t>
            </a:r>
            <a:endParaRPr lang="en-US" sz="7400" dirty="0"/>
          </a:p>
        </p:txBody>
      </p:sp>
      <p:sp>
        <p:nvSpPr>
          <p:cNvPr id="9" name="Text 6"/>
          <p:cNvSpPr/>
          <p:nvPr/>
        </p:nvSpPr>
        <p:spPr>
          <a:xfrm>
            <a:off x="411480" y="2944368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</a:t>
            </a:r>
            <a:endParaRPr lang="en-US" sz="7400" dirty="0"/>
          </a:p>
        </p:txBody>
      </p:sp>
      <p:sp>
        <p:nvSpPr>
          <p:cNvPr id="10" name="Text 7"/>
          <p:cNvSpPr/>
          <p:nvPr/>
        </p:nvSpPr>
        <p:spPr>
          <a:xfrm>
            <a:off x="411480" y="39776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A90B8"/>
                </a:solidFill>
              </a:rPr>
              <a:t>Measure. Compete. Transform. 70 teams. One leaderboard.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E3A"/>
          </a:solidFill>
          <a:ln/>
        </p:spPr>
      </p:sp>
      <p:sp>
        <p:nvSpPr>
          <p:cNvPr id="12" name="Text 9"/>
          <p:cNvSpPr/>
          <p:nvPr/>
        </p:nvSpPr>
        <p:spPr>
          <a:xfrm>
            <a:off x="320040" y="49103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0B8"/>
                </a:solidFill>
              </a:rPr>
              <a:t>CONFIDENTIAL  ·  DEVOPS CHAMPION  ·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45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4545"/>
                </a:solidFill>
              </a:rPr>
              <a:t>THE BURNING PLATFORM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we cannot afford to wait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65760" y="1481328"/>
            <a:ext cx="2743200" cy="237744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81328"/>
            <a:ext cx="2743200" cy="73152"/>
          </a:xfrm>
          <a:prstGeom prst="rect">
            <a:avLst/>
          </a:prstGeom>
          <a:solidFill>
            <a:srgbClr val="E84545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664208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E84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</a:t>
            </a:r>
            <a:endParaRPr lang="en-US" sz="6800" dirty="0"/>
          </a:p>
        </p:txBody>
      </p:sp>
      <p:sp>
        <p:nvSpPr>
          <p:cNvPr id="8" name="Text 6"/>
          <p:cNvSpPr/>
          <p:nvPr/>
        </p:nvSpPr>
        <p:spPr>
          <a:xfrm>
            <a:off x="530352" y="25786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5E0"/>
                </a:solidFill>
              </a:rPr>
              <a:t>releases/month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29077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Where we are TODAY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32004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B8"/>
                </a:solidFill>
              </a:rPr>
              <a:t>Across 70 apps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481328"/>
            <a:ext cx="2743200" cy="237744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481328"/>
            <a:ext cx="27432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3456432" y="1664208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8d</a:t>
            </a:r>
            <a:endParaRPr lang="en-US" sz="6800" dirty="0"/>
          </a:p>
        </p:txBody>
      </p:sp>
      <p:sp>
        <p:nvSpPr>
          <p:cNvPr id="14" name="Text 12"/>
          <p:cNvSpPr/>
          <p:nvPr/>
        </p:nvSpPr>
        <p:spPr>
          <a:xfrm>
            <a:off x="3456432" y="25786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5E0"/>
                </a:solidFill>
              </a:rPr>
              <a:t>lead time to deploy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56432" y="29077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Time from code to production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56432" y="32004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B8"/>
                </a:solidFill>
              </a:rPr>
              <a:t>Industry elite: 1.8 days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481328"/>
            <a:ext cx="2743200" cy="237744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481328"/>
            <a:ext cx="2743200" cy="73152"/>
          </a:xfrm>
          <a:prstGeom prst="rect">
            <a:avLst/>
          </a:prstGeom>
          <a:solidFill>
            <a:srgbClr val="00C5E0"/>
          </a:solidFill>
          <a:ln/>
        </p:spPr>
      </p:sp>
      <p:sp>
        <p:nvSpPr>
          <p:cNvPr id="19" name="Text 17"/>
          <p:cNvSpPr/>
          <p:nvPr/>
        </p:nvSpPr>
        <p:spPr>
          <a:xfrm>
            <a:off x="6382512" y="1664208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00C5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7×</a:t>
            </a:r>
            <a:endParaRPr lang="en-US" sz="6800" dirty="0"/>
          </a:p>
        </p:txBody>
      </p:sp>
      <p:sp>
        <p:nvSpPr>
          <p:cNvPr id="20" name="Text 18"/>
          <p:cNvSpPr/>
          <p:nvPr/>
        </p:nvSpPr>
        <p:spPr>
          <a:xfrm>
            <a:off x="6382512" y="25786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5E0"/>
                </a:solidFill>
              </a:rPr>
              <a:t>improvement needed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82512" y="29077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The gap we must close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82512" y="32004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B8"/>
                </a:solidFill>
              </a:rPr>
              <a:t>Target: 280 releases/month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069080"/>
            <a:ext cx="8412480" cy="822960"/>
          </a:xfrm>
          <a:prstGeom prst="rect">
            <a:avLst/>
          </a:prstGeom>
          <a:solidFill>
            <a:srgbClr val="0D1E3A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" y="4069080"/>
            <a:ext cx="54864" cy="822960"/>
          </a:xfrm>
          <a:prstGeom prst="rect">
            <a:avLst/>
          </a:prstGeom>
          <a:solidFill>
            <a:srgbClr val="E84545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4133088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Every week we don't act, competitors shipping 10× faster are widening the gap. This is not a tooling problem. It is a structural, cultural, and measurement problem — and we have a plan to fix all three.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77824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0B8"/>
                </a:solidFill>
              </a:rPr>
              <a:t>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0040" y="4800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5E0"/>
                </a:solidFill>
              </a:rPr>
              <a:t>DevOps</a:t>
            </a:r>
            <a:pPr indent="0" marL="0">
              <a:buNone/>
            </a:pPr>
            <a:r>
              <a:rPr lang="en-US" sz="850" dirty="0">
                <a:solidFill>
                  <a:srgbClr val="7A90B8"/>
                </a:solidFill>
              </a:rPr>
              <a:t> Transformation Platform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5E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5E0"/>
                </a:solidFill>
              </a:rPr>
              <a:t>INTRODUCING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192024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658368"/>
            <a:ext cx="8412480" cy="91440"/>
          </a:xfrm>
          <a:prstGeom prst="rect">
            <a:avLst/>
          </a:prstGeom>
          <a:solidFill>
            <a:srgbClr val="1E56B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686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DevOps Performance Index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48640" y="171907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C5E0"/>
                </a:solidFill>
              </a:rPr>
              <a:t>DPI  ·  A Transparent, Weekly-Measured, Automated Performance System for 70 Teams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2743200" cy="2029968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834640"/>
            <a:ext cx="2743200" cy="64008"/>
          </a:xfrm>
          <a:prstGeom prst="rect">
            <a:avLst/>
          </a:prstGeom>
          <a:solidFill>
            <a:srgbClr val="00B87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971800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51560" y="299008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Measure Everything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0352" y="3401568"/>
            <a:ext cx="24231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B8"/>
                </a:solidFill>
              </a:rPr>
              <a:t>Automated scores from DataSight, GitHub, Teambook. No manual reporting. Real data, every week.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91840" y="2834640"/>
            <a:ext cx="2743200" cy="2029968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91840" y="2834640"/>
            <a:ext cx="2743200" cy="64008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08" y="2971800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77640" y="299008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Compete &amp; Win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456432" y="3401568"/>
            <a:ext cx="24231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B8"/>
                </a:solidFill>
              </a:rPr>
              <a:t>Leaderboards. Leagues. Badges. Sprint challenges. Teams race each other — in a healthy, engaging way.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17920" y="2834640"/>
            <a:ext cx="2743200" cy="2029968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2834640"/>
            <a:ext cx="2743200" cy="64008"/>
          </a:xfrm>
          <a:prstGeom prst="rect">
            <a:avLst/>
          </a:prstGeom>
          <a:solidFill>
            <a:srgbClr val="00C5E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2971800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03720" y="299008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Transform Fast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382512" y="3401568"/>
            <a:ext cx="24231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B8"/>
                </a:solidFill>
              </a:rPr>
              <a:t>Recommended actions per app. Platform guides every team toward the metrics that matter most.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77824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0B8"/>
                </a:solidFill>
              </a:rPr>
              <a:t>3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320040" y="4800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5E0"/>
                </a:solidFill>
              </a:rPr>
              <a:t>DevOps</a:t>
            </a:r>
            <a:pPr indent="0" marL="0">
              <a:buNone/>
            </a:pPr>
            <a:r>
              <a:rPr lang="en-US" sz="850" dirty="0">
                <a:solidFill>
                  <a:srgbClr val="7A90B8"/>
                </a:solidFill>
              </a:rPr>
              <a:t> Transformation Platform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A623"/>
                </a:solidFill>
              </a:rPr>
              <a:t>HOW TEAMS ARE SCORED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DevOps Performance Index — 100 Points, 5 Pillars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542032" cy="347472"/>
          </a:xfrm>
          <a:prstGeom prst="rect">
            <a:avLst/>
          </a:prstGeom>
          <a:solidFill>
            <a:srgbClr val="E84545"/>
          </a:solidFill>
          <a:ln/>
        </p:spPr>
      </p:sp>
      <p:sp>
        <p:nvSpPr>
          <p:cNvPr id="6" name="Shape 4"/>
          <p:cNvSpPr/>
          <p:nvPr/>
        </p:nvSpPr>
        <p:spPr>
          <a:xfrm>
            <a:off x="2944368" y="1234440"/>
            <a:ext cx="2112264" cy="347472"/>
          </a:xfrm>
          <a:prstGeom prst="rect">
            <a:avLst/>
          </a:prstGeom>
          <a:solidFill>
            <a:srgbClr val="1E56B0"/>
          </a:solidFill>
          <a:ln/>
        </p:spPr>
      </p:sp>
      <p:sp>
        <p:nvSpPr>
          <p:cNvPr id="7" name="Shape 5"/>
          <p:cNvSpPr/>
          <p:nvPr/>
        </p:nvSpPr>
        <p:spPr>
          <a:xfrm>
            <a:off x="5093208" y="1234440"/>
            <a:ext cx="1682496" cy="347472"/>
          </a:xfrm>
          <a:prstGeom prst="rect">
            <a:avLst/>
          </a:prstGeom>
          <a:solidFill>
            <a:srgbClr val="00B87C"/>
          </a:solidFill>
          <a:ln/>
        </p:spPr>
      </p:sp>
      <p:sp>
        <p:nvSpPr>
          <p:cNvPr id="8" name="Shape 6"/>
          <p:cNvSpPr/>
          <p:nvPr/>
        </p:nvSpPr>
        <p:spPr>
          <a:xfrm>
            <a:off x="6812280" y="1234440"/>
            <a:ext cx="1252728" cy="3474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Shape 7"/>
          <p:cNvSpPr/>
          <p:nvPr/>
        </p:nvSpPr>
        <p:spPr>
          <a:xfrm>
            <a:off x="8101584" y="1234440"/>
            <a:ext cx="82296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737360"/>
            <a:ext cx="1664208" cy="3127248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737360"/>
            <a:ext cx="1664208" cy="64008"/>
          </a:xfrm>
          <a:prstGeom prst="rect">
            <a:avLst/>
          </a:prstGeom>
          <a:solidFill>
            <a:srgbClr val="E84545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" y="1847088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4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38912" y="2487168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</a:rPr>
              <a:t>VELOCITY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" y="2852928"/>
            <a:ext cx="1371600" cy="18288"/>
          </a:xfrm>
          <a:prstGeom prst="rect">
            <a:avLst/>
          </a:prstGeom>
          <a:solidFill>
            <a:srgbClr val="E84545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" y="2926080"/>
            <a:ext cx="1517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8"/>
                </a:solidFill>
              </a:rPr>
              <a:t>Release Frequency · LTDD · Batch Size · Deployment Trend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21408" y="1737360"/>
            <a:ext cx="1664208" cy="3127248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121408" y="1737360"/>
            <a:ext cx="1664208" cy="64008"/>
          </a:xfrm>
          <a:prstGeom prst="rect">
            <a:avLst/>
          </a:prstGeom>
          <a:solidFill>
            <a:srgbClr val="1E56B0"/>
          </a:solidFill>
          <a:ln/>
        </p:spPr>
      </p:sp>
      <p:sp>
        <p:nvSpPr>
          <p:cNvPr id="18" name="Text 16"/>
          <p:cNvSpPr/>
          <p:nvPr/>
        </p:nvSpPr>
        <p:spPr>
          <a:xfrm>
            <a:off x="2194560" y="1847088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56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2194560" y="2487168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</a:rPr>
              <a:t>FLOW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94560" y="2852928"/>
            <a:ext cx="1371600" cy="18288"/>
          </a:xfrm>
          <a:prstGeom prst="rect">
            <a:avLst/>
          </a:prstGeom>
          <a:solidFill>
            <a:srgbClr val="1E56B0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2194560" y="2926080"/>
            <a:ext cx="1517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8"/>
                </a:solidFill>
              </a:rPr>
              <a:t>Git Hygiene · PR Review SLA · Pipeline Duration · Approval Gates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77056" y="1737360"/>
            <a:ext cx="1664208" cy="3127248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77056" y="1737360"/>
            <a:ext cx="1664208" cy="64008"/>
          </a:xfrm>
          <a:prstGeom prst="rect">
            <a:avLst/>
          </a:prstGeom>
          <a:solidFill>
            <a:srgbClr val="00B87C"/>
          </a:solidFill>
          <a:ln/>
        </p:spPr>
      </p:sp>
      <p:sp>
        <p:nvSpPr>
          <p:cNvPr id="24" name="Text 22"/>
          <p:cNvSpPr/>
          <p:nvPr/>
        </p:nvSpPr>
        <p:spPr>
          <a:xfrm>
            <a:off x="3950208" y="1847088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B87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3950208" y="2487168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</a:rPr>
              <a:t>STABILITY + SEC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950208" y="2852928"/>
            <a:ext cx="1371600" cy="18288"/>
          </a:xfrm>
          <a:prstGeom prst="rect">
            <a:avLst/>
          </a:prstGeom>
          <a:solidFill>
            <a:srgbClr val="00B87C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950208" y="2926080"/>
            <a:ext cx="1517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8"/>
                </a:solidFill>
              </a:rPr>
              <a:t>MTTR · Change Fail Rate · Branch Protection · Priv Access · SAST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632704" y="1737360"/>
            <a:ext cx="1664208" cy="3127248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632704" y="1737360"/>
            <a:ext cx="1664208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0" name="Text 28"/>
          <p:cNvSpPr/>
          <p:nvPr/>
        </p:nvSpPr>
        <p:spPr>
          <a:xfrm>
            <a:off x="5705856" y="1847088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5705856" y="2487168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</a:rPr>
              <a:t>AUTOMATION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705856" y="2852928"/>
            <a:ext cx="1371600" cy="18288"/>
          </a:xfrm>
          <a:prstGeom prst="rect">
            <a:avLst/>
          </a:prstGeom>
          <a:solidFill>
            <a:srgbClr val="F5A623">
              <a:alpha val="4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705856" y="2926080"/>
            <a:ext cx="1517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8"/>
                </a:solidFill>
              </a:rPr>
              <a:t>CI/CD Automated · Standard Pipeline · Zero-Touch · Rollback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88352" y="1737360"/>
            <a:ext cx="1664208" cy="3127248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388352" y="1737360"/>
            <a:ext cx="1664208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>
          <a:xfrm>
            <a:off x="7461504" y="1847088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4000" dirty="0"/>
          </a:p>
        </p:txBody>
      </p:sp>
      <p:sp>
        <p:nvSpPr>
          <p:cNvPr id="37" name="Text 35"/>
          <p:cNvSpPr/>
          <p:nvPr/>
        </p:nvSpPr>
        <p:spPr>
          <a:xfrm>
            <a:off x="7461504" y="2487168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</a:rPr>
              <a:t>AI &amp; ADOPTION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461504" y="2852928"/>
            <a:ext cx="1371600" cy="18288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7461504" y="2926080"/>
            <a:ext cx="1517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8"/>
                </a:solidFill>
              </a:rPr>
              <a:t>AI Coding Agents · API Catalog · Tool Adoption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90B8"/>
                </a:solidFill>
              </a:rPr>
              <a:t>Weekly automated scores. Data from DataSight · GitHub · Teambook. No manual reporting.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77824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0B8"/>
                </a:solidFill>
              </a:rPr>
              <a:t>4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0040" y="4800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5E0"/>
                </a:solidFill>
              </a:rPr>
              <a:t>DevOps</a:t>
            </a:r>
            <a:pPr indent="0" marL="0">
              <a:buNone/>
            </a:pPr>
            <a:r>
              <a:rPr lang="en-US" sz="850" dirty="0">
                <a:solidFill>
                  <a:srgbClr val="7A90B8"/>
                </a:solidFill>
              </a:rPr>
              <a:t> Transformation Platform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A623"/>
                </a:solidFill>
              </a:rPr>
              <a:t>WHERE THE MAGIC HAPPENS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1206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Compete. Earn. Win.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1993392" cy="2395728"/>
          </a:xfrm>
          <a:prstGeom prst="rect">
            <a:avLst/>
          </a:prstGeom>
          <a:solidFill>
            <a:srgbClr val="1F180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98448"/>
            <a:ext cx="199339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3898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🏆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38912" y="18470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ELITE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8912" y="21762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B8"/>
                </a:solidFill>
              </a:rPr>
              <a:t>DPI 80–100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2450592"/>
            <a:ext cx="1847088" cy="18288"/>
          </a:xfrm>
          <a:prstGeom prst="rect">
            <a:avLst/>
          </a:prstGeom>
          <a:solidFill>
            <a:srgbClr val="F5A623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2514600"/>
            <a:ext cx="1847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Exec dashboard · Tooling budget · Mentor status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87168" y="1298448"/>
            <a:ext cx="1993392" cy="2395728"/>
          </a:xfrm>
          <a:prstGeom prst="rect">
            <a:avLst/>
          </a:prstGeom>
          <a:solidFill>
            <a:srgbClr val="00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87168" y="1298448"/>
            <a:ext cx="1993392" cy="73152"/>
          </a:xfrm>
          <a:prstGeom prst="rect">
            <a:avLst/>
          </a:prstGeom>
          <a:solidFill>
            <a:srgbClr val="1E56B0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13898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560320" y="18470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E56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60320" y="21762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B8"/>
                </a:solidFill>
              </a:rPr>
              <a:t>DPI 60–79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0" y="2450592"/>
            <a:ext cx="1847088" cy="18288"/>
          </a:xfrm>
          <a:prstGeom prst="rect">
            <a:avLst/>
          </a:prstGeom>
          <a:solidFill>
            <a:srgbClr val="1E56B0">
              <a:alpha val="3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560320" y="2514600"/>
            <a:ext cx="1847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Fast-track tooling · Newsletter spotlight · Rivalries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08576" y="1298448"/>
            <a:ext cx="1993392" cy="2395728"/>
          </a:xfrm>
          <a:prstGeom prst="rect">
            <a:avLst/>
          </a:prstGeom>
          <a:solidFill>
            <a:srgbClr val="001A1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08576" y="1298448"/>
            <a:ext cx="1993392" cy="73152"/>
          </a:xfrm>
          <a:prstGeom prst="rect">
            <a:avLst/>
          </a:prstGeom>
          <a:solidFill>
            <a:srgbClr val="00B87C"/>
          </a:solidFill>
          <a:ln/>
        </p:spPr>
      </p:sp>
      <p:sp>
        <p:nvSpPr>
          <p:cNvPr id="21" name="Text 19"/>
          <p:cNvSpPr/>
          <p:nvPr/>
        </p:nvSpPr>
        <p:spPr>
          <a:xfrm>
            <a:off x="4681728" y="13898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🔧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681728" y="18470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0B87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81728" y="21762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B8"/>
                </a:solidFill>
              </a:rPr>
              <a:t>DPI 40–59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81728" y="2450592"/>
            <a:ext cx="1847088" cy="18288"/>
          </a:xfrm>
          <a:prstGeom prst="rect">
            <a:avLst/>
          </a:prstGeom>
          <a:solidFill>
            <a:srgbClr val="00B87C">
              <a:alpha val="3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681728" y="2514600"/>
            <a:ext cx="1847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1:1 coaching · Rising Star award · Personal action plan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729984" y="1298448"/>
            <a:ext cx="1993392" cy="2395728"/>
          </a:xfrm>
          <a:prstGeom prst="rect">
            <a:avLst/>
          </a:prstGeom>
          <a:solidFill>
            <a:srgbClr val="0D1E3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29984" y="1298448"/>
            <a:ext cx="1993392" cy="73152"/>
          </a:xfrm>
          <a:prstGeom prst="rect">
            <a:avLst/>
          </a:prstGeom>
          <a:solidFill>
            <a:srgbClr val="7A90B8"/>
          </a:solidFill>
          <a:ln/>
        </p:spPr>
      </p:sp>
      <p:sp>
        <p:nvSpPr>
          <p:cNvPr id="28" name="Text 26"/>
          <p:cNvSpPr/>
          <p:nvPr/>
        </p:nvSpPr>
        <p:spPr>
          <a:xfrm>
            <a:off x="6803136" y="13898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🌱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803136" y="18470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7A90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03136" y="21762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B8"/>
                </a:solidFill>
              </a:rPr>
              <a:t>DPI &lt; 40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03136" y="2450592"/>
            <a:ext cx="1847088" cy="18288"/>
          </a:xfrm>
          <a:prstGeom prst="rect">
            <a:avLst/>
          </a:prstGeom>
          <a:solidFill>
            <a:srgbClr val="7A90B8">
              <a:alpha val="3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803136" y="2514600"/>
            <a:ext cx="1847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Champion support · Simplified targets · Comeback award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3858768"/>
            <a:ext cx="1572768" cy="100584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38912" y="3913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⚔️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38912" y="427939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Weekly Rivalry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38912" y="4535424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0B8"/>
                </a:solidFill>
              </a:rPr>
              <a:t>Matched head-to-head on weekly DPI delta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048256" y="3858768"/>
            <a:ext cx="1572768" cy="100584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121408" y="3913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🏃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2121408" y="427939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Sprint Challenges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121408" y="4535424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0B8"/>
                </a:solidFill>
              </a:rPr>
              <a:t>Monthly themed competitions any team can win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730752" y="3858768"/>
            <a:ext cx="1572768" cy="100584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803904" y="3913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💥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3803904" y="427939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Double-Point Events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803904" y="4535424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0B8"/>
                </a:solidFill>
              </a:rPr>
              <a:t>Champion boosts specific metrics for urgency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413248" y="3858768"/>
            <a:ext cx="1572768" cy="100584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486400" y="3913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📣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5486400" y="427939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Comeback Award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486400" y="4535424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0B8"/>
                </a:solidFill>
              </a:rPr>
              <a:t>+10 DPI jump = public shoutout, any league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095744" y="3858768"/>
            <a:ext cx="1572768" cy="100584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7168896" y="3913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📞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7168896" y="427939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Champion's Call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168896" y="4535424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0B8"/>
                </a:solidFill>
              </a:rPr>
              <a:t>Personal call to Most Improved every Friday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877824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0B8"/>
                </a:solidFill>
              </a:rPr>
              <a:t>5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20040" y="4800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5E0"/>
                </a:solidFill>
              </a:rPr>
              <a:t>DevOps</a:t>
            </a:r>
            <a:pPr indent="0" marL="0">
              <a:buNone/>
            </a:pPr>
            <a:r>
              <a:rPr lang="en-US" sz="850" dirty="0">
                <a:solidFill>
                  <a:srgbClr val="7A90B8"/>
                </a:solidFill>
              </a:rPr>
              <a:t> Transformation Platform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A623"/>
                </a:solidFill>
              </a:rPr>
              <a:t>EARN YOUR BADGES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120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Permanent milestones. Once earned, never taken away.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048256" cy="109728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2048256" cy="64008"/>
          </a:xfrm>
          <a:prstGeom prst="rect">
            <a:avLst/>
          </a:prstGeom>
          <a:solidFill>
            <a:srgbClr val="00C5E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44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13624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First Launch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63677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8"/>
                </a:solidFill>
              </a:rPr>
              <a:t>First pipeline release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42032" y="1234440"/>
            <a:ext cx="2048256" cy="109728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42032" y="1234440"/>
            <a:ext cx="2048256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2633472" y="1344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136392" y="13624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Speed Demon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36392" y="163677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8"/>
                </a:solidFill>
              </a:rPr>
              <a:t>5+ releases in one week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18304" y="1234440"/>
            <a:ext cx="2048256" cy="109728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18304" y="1234440"/>
            <a:ext cx="2048256" cy="64008"/>
          </a:xfrm>
          <a:prstGeom prst="rect">
            <a:avLst/>
          </a:prstGeom>
          <a:solidFill>
            <a:srgbClr val="00B87C"/>
          </a:solidFill>
          <a:ln/>
        </p:spPr>
      </p:sp>
      <p:sp>
        <p:nvSpPr>
          <p:cNvPr id="17" name="Text 15"/>
          <p:cNvSpPr/>
          <p:nvPr/>
        </p:nvSpPr>
        <p:spPr>
          <a:xfrm>
            <a:off x="4809744" y="1344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12664" y="13624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Daily Shipper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12664" y="163677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8"/>
                </a:solidFill>
              </a:rPr>
              <a:t>Release every day for 5 days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94576" y="1234440"/>
            <a:ext cx="2048256" cy="109728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94576" y="1234440"/>
            <a:ext cx="2048256" cy="64008"/>
          </a:xfrm>
          <a:prstGeom prst="rect">
            <a:avLst/>
          </a:prstGeom>
          <a:solidFill>
            <a:srgbClr val="1E56B0"/>
          </a:solidFill>
          <a:ln/>
        </p:spPr>
      </p:sp>
      <p:sp>
        <p:nvSpPr>
          <p:cNvPr id="22" name="Text 20"/>
          <p:cNvSpPr/>
          <p:nvPr/>
        </p:nvSpPr>
        <p:spPr>
          <a:xfrm>
            <a:off x="6986016" y="1344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🧹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488936" y="13624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Clean Coder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88936" y="163677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8"/>
                </a:solidFill>
              </a:rPr>
              <a:t>Git hygiene 90+ for 4 weeks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2496312"/>
            <a:ext cx="2048256" cy="109728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2496312"/>
            <a:ext cx="2048256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606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60120" y="26243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Full Automator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0120" y="28986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8"/>
                </a:solidFill>
              </a:rPr>
              <a:t>CI + CD + zero-touch all live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42032" y="2496312"/>
            <a:ext cx="2048256" cy="109728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42032" y="2496312"/>
            <a:ext cx="2048256" cy="64008"/>
          </a:xfrm>
          <a:prstGeom prst="rect">
            <a:avLst/>
          </a:prstGeom>
          <a:solidFill>
            <a:srgbClr val="E84545"/>
          </a:solidFill>
          <a:ln/>
        </p:spPr>
      </p:sp>
      <p:sp>
        <p:nvSpPr>
          <p:cNvPr id="32" name="Text 30"/>
          <p:cNvSpPr/>
          <p:nvPr/>
        </p:nvSpPr>
        <p:spPr>
          <a:xfrm>
            <a:off x="2633472" y="2606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136392" y="26243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On Target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136392" y="28986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8"/>
                </a:solidFill>
              </a:rPr>
              <a:t>RF target hit 4 weeks running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18304" y="2496312"/>
            <a:ext cx="2048256" cy="109728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18304" y="2496312"/>
            <a:ext cx="2048256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7" name="Text 35"/>
          <p:cNvSpPr/>
          <p:nvPr/>
        </p:nvSpPr>
        <p:spPr>
          <a:xfrm>
            <a:off x="4809744" y="2606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312664" y="26243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Most Improved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12664" y="28986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8"/>
                </a:solidFill>
              </a:rPr>
              <a:t>Biggest DPI jump any month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894576" y="2496312"/>
            <a:ext cx="2048256" cy="109728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94576" y="2496312"/>
            <a:ext cx="2048256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2" name="Text 40"/>
          <p:cNvSpPr/>
          <p:nvPr/>
        </p:nvSpPr>
        <p:spPr>
          <a:xfrm>
            <a:off x="6986016" y="2606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7488936" y="26243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Elite Status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488936" y="28986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8"/>
                </a:solidFill>
              </a:rPr>
              <a:t>DPI 80+ held for 4 weeks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3758184"/>
            <a:ext cx="2048256" cy="109728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65760" y="3758184"/>
            <a:ext cx="2048256" cy="64008"/>
          </a:xfrm>
          <a:prstGeom prst="rect">
            <a:avLst/>
          </a:prstGeom>
          <a:solidFill>
            <a:srgbClr val="00C5E0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38679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960120" y="3886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Mentor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60120" y="41605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8"/>
                </a:solidFill>
              </a:rPr>
              <a:t>Coached a team to Elite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542032" y="3758184"/>
            <a:ext cx="2048256" cy="109728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542032" y="3758184"/>
            <a:ext cx="2048256" cy="64008"/>
          </a:xfrm>
          <a:prstGeom prst="rect">
            <a:avLst/>
          </a:prstGeom>
          <a:solidFill>
            <a:srgbClr val="00B87C"/>
          </a:solidFill>
          <a:ln/>
        </p:spPr>
      </p:sp>
      <p:sp>
        <p:nvSpPr>
          <p:cNvPr id="52" name="Text 50"/>
          <p:cNvSpPr/>
          <p:nvPr/>
        </p:nvSpPr>
        <p:spPr>
          <a:xfrm>
            <a:off x="2633472" y="38679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🏁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3136392" y="3886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Flag Pioneer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136392" y="41605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8"/>
                </a:solidFill>
              </a:rPr>
              <a:t>First feature-flag production deploy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718304" y="3758184"/>
            <a:ext cx="2048256" cy="109728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718304" y="3758184"/>
            <a:ext cx="2048256" cy="64008"/>
          </a:xfrm>
          <a:prstGeom prst="rect">
            <a:avLst/>
          </a:prstGeom>
          <a:solidFill>
            <a:srgbClr val="1E56B0"/>
          </a:solidFill>
          <a:ln/>
        </p:spPr>
      </p:sp>
      <p:sp>
        <p:nvSpPr>
          <p:cNvPr id="57" name="Text 55"/>
          <p:cNvSpPr/>
          <p:nvPr/>
        </p:nvSpPr>
        <p:spPr>
          <a:xfrm>
            <a:off x="4809744" y="38679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5312664" y="3886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Security Pro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312664" y="41605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8"/>
                </a:solidFill>
              </a:rPr>
              <a:t>Zero high vulns for 8 weeks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894576" y="3758184"/>
            <a:ext cx="2048256" cy="109728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894576" y="3758184"/>
            <a:ext cx="2048256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2" name="Text 60"/>
          <p:cNvSpPr/>
          <p:nvPr/>
        </p:nvSpPr>
        <p:spPr>
          <a:xfrm>
            <a:off x="6986016" y="38679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✨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7488936" y="3886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Pioneer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488936" y="41605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8"/>
                </a:solidFill>
              </a:rPr>
              <a:t>First team with 2+ AI tools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77824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0B8"/>
                </a:solidFill>
              </a:rPr>
              <a:t>6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320040" y="4800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5E0"/>
                </a:solidFill>
              </a:rPr>
              <a:t>DevOps</a:t>
            </a:r>
            <a:pPr indent="0" marL="0">
              <a:buNone/>
            </a:pPr>
            <a:r>
              <a:rPr lang="en-US" sz="850" dirty="0">
                <a:solidFill>
                  <a:srgbClr val="7A90B8"/>
                </a:solidFill>
              </a:rPr>
              <a:t> Transformation Platform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5E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5E0"/>
                </a:solidFill>
              </a:rPr>
              <a:t>LIVE WEEKLY LEADERBOARD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120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Published every Friday to all 70 teams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13816" cy="292608"/>
          </a:xfrm>
          <a:prstGeom prst="rect">
            <a:avLst/>
          </a:prstGeom>
          <a:solidFill>
            <a:srgbClr val="1E56B0"/>
          </a:solidFill>
          <a:ln/>
        </p:spPr>
      </p:sp>
      <p:sp>
        <p:nvSpPr>
          <p:cNvPr id="6" name="Text 4"/>
          <p:cNvSpPr/>
          <p:nvPr/>
        </p:nvSpPr>
        <p:spPr>
          <a:xfrm>
            <a:off x="420624" y="11978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</a:rPr>
              <a:t>#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234440" y="1170432"/>
            <a:ext cx="1636776" cy="292608"/>
          </a:xfrm>
          <a:prstGeom prst="rect">
            <a:avLst/>
          </a:prstGeom>
          <a:solidFill>
            <a:srgbClr val="1E56B0"/>
          </a:solidFill>
          <a:ln/>
        </p:spPr>
      </p:sp>
      <p:sp>
        <p:nvSpPr>
          <p:cNvPr id="8" name="Text 6"/>
          <p:cNvSpPr/>
          <p:nvPr/>
        </p:nvSpPr>
        <p:spPr>
          <a:xfrm>
            <a:off x="1289304" y="11978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</a:rPr>
              <a:t>TEAM / APP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26080" y="1170432"/>
            <a:ext cx="1225296" cy="292608"/>
          </a:xfrm>
          <a:prstGeom prst="rect">
            <a:avLst/>
          </a:prstGeom>
          <a:solidFill>
            <a:srgbClr val="1E56B0"/>
          </a:solidFill>
          <a:ln/>
        </p:spPr>
      </p:sp>
      <p:sp>
        <p:nvSpPr>
          <p:cNvPr id="10" name="Text 8"/>
          <p:cNvSpPr/>
          <p:nvPr/>
        </p:nvSpPr>
        <p:spPr>
          <a:xfrm>
            <a:off x="2980944" y="11978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</a:rPr>
              <a:t>VELOCITY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06240" y="1170432"/>
            <a:ext cx="950976" cy="292608"/>
          </a:xfrm>
          <a:prstGeom prst="rect">
            <a:avLst/>
          </a:prstGeom>
          <a:solidFill>
            <a:srgbClr val="1E56B0"/>
          </a:solidFill>
          <a:ln/>
        </p:spPr>
      </p:sp>
      <p:sp>
        <p:nvSpPr>
          <p:cNvPr id="12" name="Text 10"/>
          <p:cNvSpPr/>
          <p:nvPr/>
        </p:nvSpPr>
        <p:spPr>
          <a:xfrm>
            <a:off x="4261104" y="11978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</a:rPr>
              <a:t>FLOW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212080" y="1170432"/>
            <a:ext cx="950976" cy="292608"/>
          </a:xfrm>
          <a:prstGeom prst="rect">
            <a:avLst/>
          </a:prstGeom>
          <a:solidFill>
            <a:srgbClr val="1E56B0"/>
          </a:solidFill>
          <a:ln/>
        </p:spPr>
      </p:sp>
      <p:sp>
        <p:nvSpPr>
          <p:cNvPr id="14" name="Text 12"/>
          <p:cNvSpPr/>
          <p:nvPr/>
        </p:nvSpPr>
        <p:spPr>
          <a:xfrm>
            <a:off x="5266944" y="11978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</a:rPr>
              <a:t>STABILITY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1170432"/>
            <a:ext cx="950976" cy="292608"/>
          </a:xfrm>
          <a:prstGeom prst="rect">
            <a:avLst/>
          </a:prstGeom>
          <a:solidFill>
            <a:srgbClr val="1E56B0"/>
          </a:solidFill>
          <a:ln/>
        </p:spPr>
      </p:sp>
      <p:sp>
        <p:nvSpPr>
          <p:cNvPr id="16" name="Text 14"/>
          <p:cNvSpPr/>
          <p:nvPr/>
        </p:nvSpPr>
        <p:spPr>
          <a:xfrm>
            <a:off x="6272784" y="11978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</a:rPr>
              <a:t>AUTOMATION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23760" y="1170432"/>
            <a:ext cx="950976" cy="292608"/>
          </a:xfrm>
          <a:prstGeom prst="rect">
            <a:avLst/>
          </a:prstGeom>
          <a:solidFill>
            <a:srgbClr val="1E56B0"/>
          </a:solidFill>
          <a:ln/>
        </p:spPr>
      </p:sp>
      <p:sp>
        <p:nvSpPr>
          <p:cNvPr id="18" name="Text 16"/>
          <p:cNvSpPr/>
          <p:nvPr/>
        </p:nvSpPr>
        <p:spPr>
          <a:xfrm>
            <a:off x="7278624" y="11978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</a:rPr>
              <a:t>AI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229600" y="1170432"/>
            <a:ext cx="804672" cy="292608"/>
          </a:xfrm>
          <a:prstGeom prst="rect">
            <a:avLst/>
          </a:prstGeom>
          <a:solidFill>
            <a:srgbClr val="1E56B0"/>
          </a:solidFill>
          <a:ln/>
        </p:spPr>
      </p:sp>
      <p:sp>
        <p:nvSpPr>
          <p:cNvPr id="20" name="Text 18"/>
          <p:cNvSpPr/>
          <p:nvPr/>
        </p:nvSpPr>
        <p:spPr>
          <a:xfrm>
            <a:off x="8284464" y="11978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</a:rPr>
              <a:t>DPI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1536192"/>
            <a:ext cx="8412480" cy="420624"/>
          </a:xfrm>
          <a:prstGeom prst="rect">
            <a:avLst/>
          </a:prstGeom>
          <a:solidFill>
            <a:srgbClr val="1A1200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1536192"/>
            <a:ext cx="45720" cy="42062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" y="16093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🥇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34440" y="162763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Payments API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980944" y="16276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B8"/>
                </a:solidFill>
              </a:rPr>
              <a:t>28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61104" y="16276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B8"/>
                </a:solidFill>
              </a:rPr>
              <a:t>23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66944" y="16276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B8"/>
                </a:solidFill>
              </a:rPr>
              <a:t>19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72784" y="16276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B8"/>
                </a:solidFill>
              </a:rPr>
              <a:t>14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78624" y="16276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B8"/>
                </a:solidFill>
              </a:rPr>
              <a:t>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0" y="1609344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93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26680" y="162763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87C"/>
                </a:solidFill>
              </a:rPr>
              <a:t>↑+5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834640" y="159105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🚀⚡🤖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2039112"/>
            <a:ext cx="8412480" cy="420624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4" name="Shape 32"/>
          <p:cNvSpPr/>
          <p:nvPr/>
        </p:nvSpPr>
        <p:spPr>
          <a:xfrm>
            <a:off x="365760" y="2039112"/>
            <a:ext cx="45720" cy="42062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5" name="Text 33"/>
          <p:cNvSpPr/>
          <p:nvPr/>
        </p:nvSpPr>
        <p:spPr>
          <a:xfrm>
            <a:off x="438912" y="21122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🥈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234440" y="213055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Digital Onboard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980944" y="21305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B8"/>
                </a:solidFill>
              </a:rPr>
              <a:t>25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261104" y="21305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B8"/>
                </a:solidFill>
              </a:rPr>
              <a:t>21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66944" y="21305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B8"/>
                </a:solidFill>
              </a:rPr>
              <a:t>17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72784" y="21305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B8"/>
                </a:solidFill>
              </a:rPr>
              <a:t>12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278624" y="21305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B8"/>
                </a:solidFill>
              </a:rPr>
              <a:t>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229600" y="2112264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83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726680" y="213055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87C"/>
                </a:solidFill>
              </a:rPr>
              <a:t>↑+3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834640" y="209397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🚀🎯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2542032"/>
            <a:ext cx="8412480" cy="420624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46" name="Shape 44"/>
          <p:cNvSpPr/>
          <p:nvPr/>
        </p:nvSpPr>
        <p:spPr>
          <a:xfrm>
            <a:off x="365760" y="2542032"/>
            <a:ext cx="45720" cy="420624"/>
          </a:xfrm>
          <a:prstGeom prst="rect">
            <a:avLst/>
          </a:prstGeom>
          <a:solidFill>
            <a:srgbClr val="1E56B0"/>
          </a:solidFill>
          <a:ln/>
        </p:spPr>
      </p:sp>
      <p:sp>
        <p:nvSpPr>
          <p:cNvPr id="47" name="Text 45"/>
          <p:cNvSpPr/>
          <p:nvPr/>
        </p:nvSpPr>
        <p:spPr>
          <a:xfrm>
            <a:off x="438912" y="26151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56B0"/>
                </a:solidFill>
              </a:rPr>
              <a:t>🥉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234440" y="26334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 Engine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980944" y="26334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B8"/>
                </a:solidFill>
              </a:rPr>
              <a:t>22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261104" y="26334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B8"/>
                </a:solidFill>
              </a:rPr>
              <a:t>20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266944" y="26334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B8"/>
                </a:solidFill>
              </a:rPr>
              <a:t>18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272784" y="26334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B8"/>
                </a:solidFill>
              </a:rPr>
              <a:t>11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278624" y="26334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B8"/>
                </a:solidFill>
              </a:rPr>
              <a:t>6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229600" y="2615184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5E0"/>
                </a:solidFill>
              </a:rPr>
              <a:t>77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7726680" y="263347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90B8"/>
                </a:solidFill>
              </a:rPr>
              <a:t>→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2834640" y="259689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🧹🛡️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365760" y="3044952"/>
            <a:ext cx="8412480" cy="420624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8" name="Shape 56"/>
          <p:cNvSpPr/>
          <p:nvPr/>
        </p:nvSpPr>
        <p:spPr>
          <a:xfrm>
            <a:off x="365760" y="3044952"/>
            <a:ext cx="45720" cy="420624"/>
          </a:xfrm>
          <a:prstGeom prst="rect">
            <a:avLst/>
          </a:prstGeom>
          <a:solidFill>
            <a:srgbClr val="1E56B0"/>
          </a:solidFill>
          <a:ln/>
        </p:spPr>
      </p:sp>
      <p:sp>
        <p:nvSpPr>
          <p:cNvPr id="59" name="Text 57"/>
          <p:cNvSpPr/>
          <p:nvPr/>
        </p:nvSpPr>
        <p:spPr>
          <a:xfrm>
            <a:off x="438912" y="311810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6B0"/>
                </a:solidFill>
              </a:rPr>
              <a:t>4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1234440" y="31363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Customer Portal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2980944" y="3136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B8"/>
                </a:solidFill>
              </a:rPr>
              <a:t>18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261104" y="3136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B8"/>
                </a:solidFill>
              </a:rPr>
              <a:t>19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266944" y="3136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B8"/>
                </a:solidFill>
              </a:rPr>
              <a:t>16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272784" y="3136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B8"/>
                </a:solidFill>
              </a:rPr>
              <a:t>10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278624" y="3136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B8"/>
                </a:solidFill>
              </a:rPr>
              <a:t>7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8229600" y="3118104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5E0"/>
                </a:solidFill>
              </a:rPr>
              <a:t>70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7726680" y="313639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87C"/>
                </a:solidFill>
              </a:rPr>
              <a:t>↑+8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2834640" y="309981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🔁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365760" y="3547872"/>
            <a:ext cx="8412480" cy="420624"/>
          </a:xfrm>
          <a:prstGeom prst="rect">
            <a:avLst/>
          </a:prstGeom>
          <a:solidFill>
            <a:srgbClr val="001A10"/>
          </a:solidFill>
          <a:ln/>
        </p:spPr>
      </p:sp>
      <p:sp>
        <p:nvSpPr>
          <p:cNvPr id="70" name="Shape 68"/>
          <p:cNvSpPr/>
          <p:nvPr/>
        </p:nvSpPr>
        <p:spPr>
          <a:xfrm>
            <a:off x="365760" y="3547872"/>
            <a:ext cx="45720" cy="420624"/>
          </a:xfrm>
          <a:prstGeom prst="rect">
            <a:avLst/>
          </a:prstGeom>
          <a:solidFill>
            <a:srgbClr val="00B87C"/>
          </a:solidFill>
          <a:ln/>
        </p:spPr>
      </p:sp>
      <p:sp>
        <p:nvSpPr>
          <p:cNvPr id="71" name="Text 69"/>
          <p:cNvSpPr/>
          <p:nvPr/>
        </p:nvSpPr>
        <p:spPr>
          <a:xfrm>
            <a:off x="438912" y="362102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7C"/>
                </a:solidFill>
              </a:rPr>
              <a:t>5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1234440" y="363931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Payments Batch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2980944" y="36393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B8"/>
                </a:solidFill>
              </a:rPr>
              <a:t>14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4261104" y="36393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B8"/>
                </a:solidFill>
              </a:rPr>
              <a:t>16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266944" y="36393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B8"/>
                </a:solidFill>
              </a:rPr>
              <a:t>14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6272784" y="36393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B8"/>
                </a:solidFill>
              </a:rPr>
              <a:t>8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7278624" y="36393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B8"/>
                </a:solidFill>
              </a:rPr>
              <a:t>4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8229600" y="3621024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5E0"/>
                </a:solidFill>
              </a:rPr>
              <a:t>56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7726680" y="3639312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87C"/>
                </a:solidFill>
              </a:rPr>
              <a:t>↑+12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365760" y="4050792"/>
            <a:ext cx="8412480" cy="420624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81" name="Text 79"/>
          <p:cNvSpPr/>
          <p:nvPr/>
        </p:nvSpPr>
        <p:spPr>
          <a:xfrm>
            <a:off x="438912" y="41239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90B8"/>
                </a:solidFill>
              </a:rPr>
              <a:t>...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1234440" y="414223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… 65 more teams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2980944" y="41422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B8"/>
                </a:solidFill>
              </a:rPr>
              <a:t>—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4261104" y="41422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B8"/>
                </a:solidFill>
              </a:rPr>
              <a:t>—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5266944" y="41422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B8"/>
                </a:solidFill>
              </a:rPr>
              <a:t>—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6272784" y="41422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B8"/>
                </a:solidFill>
              </a:rPr>
              <a:t>—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7278624" y="41422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B8"/>
                </a:solidFill>
              </a:rPr>
              <a:t>—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8229600" y="4123944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5E0"/>
                </a:solidFill>
              </a:rPr>
              <a:t>—</a:t>
            </a:r>
            <a:endParaRPr lang="en-US" sz="1400" dirty="0"/>
          </a:p>
        </p:txBody>
      </p:sp>
      <p:sp>
        <p:nvSpPr>
          <p:cNvPr id="89" name="Shape 87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solidFill>
            <a:srgbClr val="0D1E3A"/>
          </a:solidFill>
          <a:ln/>
        </p:spPr>
      </p:sp>
      <p:sp>
        <p:nvSpPr>
          <p:cNvPr id="90" name="Text 88"/>
          <p:cNvSpPr/>
          <p:nvPr/>
        </p:nvSpPr>
        <p:spPr>
          <a:xfrm>
            <a:off x="502920" y="46908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87C"/>
                </a:solidFill>
              </a:rPr>
              <a:t>🌱 COMEBACK OF THE WEEK: Payments Batch jumped +12 DPI pts! Congrats team!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877824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0B8"/>
                </a:solidFill>
              </a:rPr>
              <a:t>7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320040" y="4800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5E0"/>
                </a:solidFill>
              </a:rPr>
              <a:t>DevOps</a:t>
            </a:r>
            <a:pPr indent="0" marL="0">
              <a:buNone/>
            </a:pPr>
            <a:r>
              <a:rPr lang="en-US" sz="850" dirty="0">
                <a:solidFill>
                  <a:srgbClr val="7A90B8"/>
                </a:solidFill>
              </a:rPr>
              <a:t> Transformation Platform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56B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5E0"/>
                </a:solidFill>
              </a:rPr>
              <a:t>WHAT GETS MEASURED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metric. Automated. Transparent.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023360" cy="3730752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70432"/>
            <a:ext cx="4023360" cy="347472"/>
          </a:xfrm>
          <a:prstGeom prst="rect">
            <a:avLst/>
          </a:prstGeom>
          <a:solidFill>
            <a:srgbClr val="00B87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07008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⚡ AUTO-COLLECTED  (from DataSight + GitHub)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 Release Frequency (RF)  ·  DataSight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B8"/>
                </a:solidFill>
              </a:rPr>
              <a:t>✓  Lead Time to Deploy (LTDD)  ·  DataSight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24028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 Change Failure Rate (CFR)  ·  DataSight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6032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B8"/>
                </a:solidFill>
              </a:rPr>
              <a:t>✓  Mean Time to Restore (MTTR)  ·  DataSight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88036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 CR Auto-Creation  ·  DataSight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20040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B8"/>
                </a:solidFill>
              </a:rPr>
              <a:t>✓  Git Hygiene Score  ·  GitHub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52044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 PR Review SLA  ·  GitHub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84048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B8"/>
                </a:solidFill>
              </a:rPr>
              <a:t>✓  Branch Age &amp; Protection  ·  GitHub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16052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 Commit Message Standard  ·  GitHub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48056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B8"/>
                </a:solidFill>
              </a:rPr>
              <a:t>✓  Team &amp; Pod Data  ·  Teambook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170432"/>
            <a:ext cx="4023360" cy="3730752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0" y="1170432"/>
            <a:ext cx="4023360" cy="3474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1207008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📋 REGISTRY FLAGS  (team declares, champion validates)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160020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→  CI Automated?  (Y/N)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192024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B8"/>
                </a:solidFill>
              </a:rPr>
              <a:t>→  CD Automated?  (Y/N)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224028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→  Standard Pipeline Adopted?  (Y/N)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256032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B8"/>
                </a:solidFill>
              </a:rPr>
              <a:t>→  Git Hygiene Adopted?  (Y/N)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288036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→  Privileged Access for Deploy?  (Y/N)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320040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B8"/>
                </a:solidFill>
              </a:rPr>
              <a:t>→  Zero-Touch Deployment?  (Y/N)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352044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→  Feature Flags Adopted?  (Y/N)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384048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B8"/>
                </a:solidFill>
              </a:rPr>
              <a:t>→  Approval Gate Count  (number)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416052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→  AI Coding Agent Adopted?  (Y/N)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448056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B8"/>
                </a:solidFill>
              </a:rPr>
              <a:t>→  API Catalog Published?  (Y/N)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77824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0B8"/>
                </a:solidFill>
              </a:rPr>
              <a:t>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0040" y="4800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5E0"/>
                </a:solidFill>
              </a:rPr>
              <a:t>DevOps</a:t>
            </a:r>
            <a:pPr indent="0" marL="0">
              <a:buNone/>
            </a:pPr>
            <a:r>
              <a:rPr lang="en-US" sz="850" dirty="0">
                <a:solidFill>
                  <a:srgbClr val="7A90B8"/>
                </a:solidFill>
              </a:rPr>
              <a:t> Transformation Platform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87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87C"/>
                </a:solidFill>
              </a:rPr>
              <a:t>FAIR FOR EVERY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120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Legacy, Vendor, iSeries — everyone has a path to win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2048256" cy="2450592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07008"/>
            <a:ext cx="2048256" cy="73152"/>
          </a:xfrm>
          <a:prstGeom prst="rect">
            <a:avLst/>
          </a:prstGeom>
          <a:solidFill>
            <a:srgbClr val="00B87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Modern / Cloud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B8"/>
                </a:solidFill>
              </a:rPr>
              <a:t>RF Target: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170432" y="168249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7C"/>
                </a:solidFill>
              </a:rPr>
              <a:t>10/month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1883664" cy="18288"/>
          </a:xfrm>
          <a:prstGeom prst="rect">
            <a:avLst/>
          </a:prstGeom>
          <a:solidFill>
            <a:srgbClr val="00B87C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84832"/>
            <a:ext cx="1883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B8"/>
                </a:solidFill>
              </a:rPr>
              <a:t>Full CI/CD · Feature flags · Zero-touch possible · Highest RF target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401568"/>
            <a:ext cx="1883664" cy="201168"/>
          </a:xfrm>
          <a:prstGeom prst="rect">
            <a:avLst/>
          </a:prstGeom>
          <a:solidFill>
            <a:srgbClr val="00B87C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41071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87C"/>
                </a:solidFill>
              </a:rPr>
              <a:t>High RF weight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42032" y="1207008"/>
            <a:ext cx="2048256" cy="2450592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42032" y="1207008"/>
            <a:ext cx="2048256" cy="73152"/>
          </a:xfrm>
          <a:prstGeom prst="rect">
            <a:avLst/>
          </a:prstGeom>
          <a:solidFill>
            <a:srgbClr val="1E56B0"/>
          </a:solidFill>
          <a:ln/>
        </p:spPr>
      </p:sp>
      <p:sp>
        <p:nvSpPr>
          <p:cNvPr id="16" name="Text 14"/>
          <p:cNvSpPr/>
          <p:nvPr/>
        </p:nvSpPr>
        <p:spPr>
          <a:xfrm>
            <a:off x="2633472" y="1325880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Traditional / On-Prem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33472" y="17190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B8"/>
                </a:solidFill>
              </a:rPr>
              <a:t>RF Target: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46704" y="168249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6B0"/>
                </a:solidFill>
              </a:rPr>
              <a:t>5/month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633472" y="2011680"/>
            <a:ext cx="1883664" cy="18288"/>
          </a:xfrm>
          <a:prstGeom prst="rect">
            <a:avLst/>
          </a:prstGeom>
          <a:solidFill>
            <a:srgbClr val="1E56B0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633472" y="2084832"/>
            <a:ext cx="1883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B8"/>
                </a:solidFill>
              </a:rPr>
              <a:t>CI possible · CD in progress · Smaller batches · Reduce approval gates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33472" y="3401568"/>
            <a:ext cx="1883664" cy="201168"/>
          </a:xfrm>
          <a:prstGeom prst="rect">
            <a:avLst/>
          </a:prstGeom>
          <a:solidFill>
            <a:srgbClr val="1E56B0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633472" y="341071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56B0"/>
                </a:solidFill>
              </a:rPr>
              <a:t>Mid RF weight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18304" y="1207008"/>
            <a:ext cx="2048256" cy="2450592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18304" y="1207008"/>
            <a:ext cx="2048256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4809744" y="1325880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Legacy / Stabilised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9744" y="17190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B8"/>
                </a:solidFill>
              </a:rPr>
              <a:t>RF Target: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522976" y="168249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1.5/month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09744" y="2011680"/>
            <a:ext cx="1883664" cy="18288"/>
          </a:xfrm>
          <a:prstGeom prst="rect">
            <a:avLst/>
          </a:prstGeom>
          <a:solidFill>
            <a:srgbClr val="F5A623">
              <a:alpha val="3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809744" y="2084832"/>
            <a:ext cx="1883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B8"/>
                </a:solidFill>
              </a:rPr>
              <a:t>Patches count · Config releases count · Focus on LTDD reduction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09744" y="3401568"/>
            <a:ext cx="1883664" cy="201168"/>
          </a:xfrm>
          <a:prstGeom prst="rect">
            <a:avLst/>
          </a:prstGeom>
          <a:solidFill>
            <a:srgbClr val="F5A623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809744" y="341071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Low RF weight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94576" y="1207008"/>
            <a:ext cx="2048256" cy="2450592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94576" y="1207008"/>
            <a:ext cx="2048256" cy="73152"/>
          </a:xfrm>
          <a:prstGeom prst="rect">
            <a:avLst/>
          </a:prstGeom>
          <a:solidFill>
            <a:srgbClr val="E84545"/>
          </a:solidFill>
          <a:ln/>
        </p:spPr>
      </p:sp>
      <p:sp>
        <p:nvSpPr>
          <p:cNvPr id="34" name="Text 32"/>
          <p:cNvSpPr/>
          <p:nvPr/>
        </p:nvSpPr>
        <p:spPr>
          <a:xfrm>
            <a:off x="6986016" y="1325880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Vendor / iSeries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86016" y="17190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B8"/>
                </a:solidFill>
              </a:rPr>
              <a:t>RF Target: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699248" y="168249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545"/>
                </a:solidFill>
              </a:rPr>
              <a:t>EXCLUDED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986016" y="2011680"/>
            <a:ext cx="1883664" cy="18288"/>
          </a:xfrm>
          <a:prstGeom prst="rect">
            <a:avLst/>
          </a:prstGeom>
          <a:solidFill>
            <a:srgbClr val="E84545">
              <a:alpha val="3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986016" y="2084832"/>
            <a:ext cx="1883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B8"/>
                </a:solidFill>
              </a:rPr>
              <a:t>Vendor controls schedule · Scored on 4 pillars only · Re-weighted to 100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986016" y="3401568"/>
            <a:ext cx="1883664" cy="201168"/>
          </a:xfrm>
          <a:prstGeom prst="rect">
            <a:avLst/>
          </a:prstGeom>
          <a:solidFill>
            <a:srgbClr val="E84545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986016" y="341071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4545"/>
                </a:solidFill>
              </a:rPr>
              <a:t>RF excluded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3840480"/>
            <a:ext cx="8412480" cy="1005840"/>
          </a:xfrm>
          <a:prstGeom prst="rect">
            <a:avLst/>
          </a:prstGeom>
          <a:solidFill>
            <a:srgbClr val="0D1E3A"/>
          </a:solidFill>
          <a:ln/>
        </p:spPr>
      </p:sp>
      <p:sp>
        <p:nvSpPr>
          <p:cNvPr id="42" name="Shape 40"/>
          <p:cNvSpPr/>
          <p:nvPr/>
        </p:nvSpPr>
        <p:spPr>
          <a:xfrm>
            <a:off x="365760" y="3840480"/>
            <a:ext cx="54864" cy="1005840"/>
          </a:xfrm>
          <a:prstGeom prst="rect">
            <a:avLst/>
          </a:prstGeom>
          <a:solidFill>
            <a:srgbClr val="00C5E0"/>
          </a:solidFill>
          <a:ln/>
        </p:spPr>
      </p:sp>
      <p:sp>
        <p:nvSpPr>
          <p:cNvPr id="43" name="Text 41"/>
          <p:cNvSpPr/>
          <p:nvPr/>
        </p:nvSpPr>
        <p:spPr>
          <a:xfrm>
            <a:off x="566928" y="3931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5E0"/>
                </a:solidFill>
              </a:rPr>
              <a:t>Portfolio Target Model: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66928" y="42062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The champion's target is a PORTFOLIO AVERAGE of 280/month — not every app hitting 280. Modern apps compensate for legacy apps. Each team is held to a target calibrated for their stack type. Fair, contextual, achievable.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77824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0B8"/>
                </a:solidFill>
              </a:rPr>
              <a:t>9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20040" y="4800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5E0"/>
                </a:solidFill>
              </a:rPr>
              <a:t>DevOps</a:t>
            </a:r>
            <a:pPr indent="0" marL="0">
              <a:buNone/>
            </a:pPr>
            <a:r>
              <a:rPr lang="en-US" sz="850" dirty="0">
                <a:solidFill>
                  <a:srgbClr val="7A90B8"/>
                </a:solidFill>
              </a:rPr>
              <a:t> Transformation Platform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5E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5E0"/>
                </a:solidFill>
              </a:rPr>
              <a:t>PHASED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120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March to December 2026 — 4 Phases, 1 Destination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2048256" cy="3401568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07008"/>
            <a:ext cx="2048256" cy="658368"/>
          </a:xfrm>
          <a:prstGeom prst="rect">
            <a:avLst/>
          </a:prstGeom>
          <a:solidFill>
            <a:srgbClr val="E84545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234440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PHASE 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5488" y="1444752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Remove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84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Friction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5488" y="1920240"/>
            <a:ext cx="1828800" cy="18288"/>
          </a:xfrm>
          <a:prstGeom prst="rect">
            <a:avLst/>
          </a:prstGeom>
          <a:solidFill>
            <a:srgbClr val="E84545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9751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B8"/>
                </a:solidFill>
              </a:rPr>
              <a:t>Mar–Apr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444752" y="1920240"/>
            <a:ext cx="914400" cy="256032"/>
          </a:xfrm>
          <a:prstGeom prst="rect">
            <a:avLst/>
          </a:prstGeom>
          <a:solidFill>
            <a:srgbClr val="E84545">
              <a:alpha val="2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481328" y="1938528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4545"/>
                </a:solidFill>
              </a:rPr>
              <a:t>RF 80–100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2267712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· App Registry live · 70 apps mapped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265176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B8"/>
                </a:solidFill>
              </a:rPr>
              <a:t>· Git hygiene mandates enforced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" y="303580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B8"/>
                </a:solidFill>
              </a:rPr>
              <a:t>· Approval gates reduced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" y="3419856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B8"/>
                </a:solidFill>
              </a:rPr>
              <a:t>· Leaderboard launched Week 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" y="3803904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B8"/>
                </a:solidFill>
              </a:rPr>
              <a:t>· First league tiers assigned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4370832"/>
            <a:ext cx="2048256" cy="237744"/>
          </a:xfrm>
          <a:prstGeom prst="rect">
            <a:avLst/>
          </a:prstGeom>
          <a:solidFill>
            <a:srgbClr val="E84545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" y="438912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4545"/>
                </a:solidFill>
              </a:rPr>
              <a:t>Flow pillar focus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42032" y="1207008"/>
            <a:ext cx="2048256" cy="3401568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42032" y="1207008"/>
            <a:ext cx="2048256" cy="658368"/>
          </a:xfrm>
          <a:prstGeom prst="rect">
            <a:avLst/>
          </a:prstGeom>
          <a:solidFill>
            <a:srgbClr val="1E56B0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651760" y="1234440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PHASE 02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51760" y="1444752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56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Increase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56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Throughput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651760" y="1920240"/>
            <a:ext cx="1828800" cy="18288"/>
          </a:xfrm>
          <a:prstGeom prst="rect">
            <a:avLst/>
          </a:prstGeom>
          <a:solidFill>
            <a:srgbClr val="1E56B0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651760" y="19751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B8"/>
                </a:solidFill>
              </a:rPr>
              <a:t>May–Jul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21024" y="1920240"/>
            <a:ext cx="914400" cy="256032"/>
          </a:xfrm>
          <a:prstGeom prst="rect">
            <a:avLst/>
          </a:prstGeom>
          <a:solidFill>
            <a:srgbClr val="1E56B0">
              <a:alpha val="2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0" y="1938528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56B0"/>
                </a:solidFill>
              </a:rPr>
              <a:t>RF 140–180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651760" y="2267712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· CD automation across all teams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651760" y="265176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B8"/>
                </a:solidFill>
              </a:rPr>
              <a:t>· Standard pipeline rollout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651760" y="303580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B8"/>
                </a:solidFill>
              </a:rPr>
              <a:t>· CR auto-creation enabled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651760" y="3419856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B8"/>
                </a:solidFill>
              </a:rPr>
              <a:t>· Sprint Challenges start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651760" y="3803904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B8"/>
                </a:solidFill>
              </a:rPr>
              <a:t>· Elite League first entrants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542032" y="4370832"/>
            <a:ext cx="2048256" cy="237744"/>
          </a:xfrm>
          <a:prstGeom prst="rect">
            <a:avLst/>
          </a:prstGeom>
          <a:solidFill>
            <a:srgbClr val="1E56B0">
              <a:alpha val="1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2615184" y="438912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56B0"/>
                </a:solidFill>
              </a:rPr>
              <a:t>Automation pillar focus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18304" y="1207008"/>
            <a:ext cx="2048256" cy="3401568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18304" y="1207008"/>
            <a:ext cx="2048256" cy="658368"/>
          </a:xfrm>
          <a:prstGeom prst="rect">
            <a:avLst/>
          </a:prstGeom>
          <a:solidFill>
            <a:srgbClr val="00B87C">
              <a:alpha val="8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828032" y="1234440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PHASE 03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28032" y="1444752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87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Stabilise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0B87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 Scale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4828032" y="1920240"/>
            <a:ext cx="1828800" cy="18288"/>
          </a:xfrm>
          <a:prstGeom prst="rect">
            <a:avLst/>
          </a:prstGeom>
          <a:solidFill>
            <a:srgbClr val="00B87C">
              <a:alpha val="4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828032" y="19751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B8"/>
                </a:solidFill>
              </a:rPr>
              <a:t>Aug–Oct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797296" y="1920240"/>
            <a:ext cx="914400" cy="256032"/>
          </a:xfrm>
          <a:prstGeom prst="rect">
            <a:avLst/>
          </a:prstGeom>
          <a:solidFill>
            <a:srgbClr val="00B87C">
              <a:alpha val="2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5833872" y="1938528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87C"/>
                </a:solidFill>
              </a:rPr>
              <a:t>RF 210–240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28032" y="2267712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· Zero-touch deployment targets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828032" y="265176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B8"/>
                </a:solidFill>
              </a:rPr>
              <a:t>· Just-in-time privileged access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828032" y="303580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B8"/>
                </a:solidFill>
              </a:rPr>
              <a:t>· LTDD below 3 days · 80% teams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828032" y="3419856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B8"/>
                </a:solidFill>
              </a:rPr>
              <a:t>· Security posture scoring live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828032" y="3803904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B8"/>
                </a:solidFill>
              </a:rPr>
              <a:t>· AI tooling Wave 2 rollout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18304" y="4370832"/>
            <a:ext cx="2048256" cy="237744"/>
          </a:xfrm>
          <a:prstGeom prst="rect">
            <a:avLst/>
          </a:prstGeom>
          <a:solidFill>
            <a:srgbClr val="00B87C">
              <a:alpha val="15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4791456" y="438912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87C"/>
                </a:solidFill>
              </a:rPr>
              <a:t>Stability pillar focus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894576" y="1207008"/>
            <a:ext cx="2048256" cy="3401568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894576" y="1207008"/>
            <a:ext cx="2048256" cy="658368"/>
          </a:xfrm>
          <a:prstGeom prst="rect">
            <a:avLst/>
          </a:prstGeom>
          <a:solidFill>
            <a:srgbClr val="7C3AED">
              <a:alpha val="8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7004304" y="1234440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PHASE 04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004304" y="1444752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Optimise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7004304" y="1920240"/>
            <a:ext cx="1828800" cy="18288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7004304" y="19751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B8"/>
                </a:solidFill>
              </a:rPr>
              <a:t>Nov–Dec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973568" y="1920240"/>
            <a:ext cx="914400" cy="256032"/>
          </a:xfrm>
          <a:prstGeom prst="rect">
            <a:avLst/>
          </a:prstGeom>
          <a:solidFill>
            <a:srgbClr val="7C3AED">
              <a:alpha val="25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8010144" y="1938528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RF 280 ✓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004304" y="2267712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· All 5 pillars fully scored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004304" y="265176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B8"/>
                </a:solidFill>
              </a:rPr>
              <a:t>· DPI becomes BAU metric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004304" y="303580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B8"/>
                </a:solidFill>
              </a:rPr>
              <a:t>· Elite League — majority of teams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7004304" y="3419856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B8"/>
                </a:solidFill>
              </a:rPr>
              <a:t>· Champion role decentralises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7004304" y="3803904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B8"/>
                </a:solidFill>
              </a:rPr>
              <a:t>· Year-end awards ceremony 🏆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894576" y="4370832"/>
            <a:ext cx="2048256" cy="237744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6967728" y="438912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AI &amp; Adoption focus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359152" y="2450592"/>
            <a:ext cx="91440" cy="73152"/>
          </a:xfrm>
          <a:prstGeom prst="rect">
            <a:avLst/>
          </a:prstGeom>
          <a:solidFill>
            <a:srgbClr val="7A90B8"/>
          </a:solidFill>
          <a:ln/>
        </p:spPr>
      </p:sp>
      <p:sp>
        <p:nvSpPr>
          <p:cNvPr id="66" name="Shape 64"/>
          <p:cNvSpPr/>
          <p:nvPr/>
        </p:nvSpPr>
        <p:spPr>
          <a:xfrm>
            <a:off x="4535424" y="2450592"/>
            <a:ext cx="91440" cy="73152"/>
          </a:xfrm>
          <a:prstGeom prst="rect">
            <a:avLst/>
          </a:prstGeom>
          <a:solidFill>
            <a:srgbClr val="7A90B8"/>
          </a:solidFill>
          <a:ln/>
        </p:spPr>
      </p:sp>
      <p:sp>
        <p:nvSpPr>
          <p:cNvPr id="67" name="Shape 65"/>
          <p:cNvSpPr/>
          <p:nvPr/>
        </p:nvSpPr>
        <p:spPr>
          <a:xfrm>
            <a:off x="6711696" y="2450592"/>
            <a:ext cx="91440" cy="73152"/>
          </a:xfrm>
          <a:prstGeom prst="rect">
            <a:avLst/>
          </a:prstGeom>
          <a:solidFill>
            <a:srgbClr val="7A90B8"/>
          </a:solidFill>
          <a:ln/>
        </p:spPr>
      </p:sp>
      <p:sp>
        <p:nvSpPr>
          <p:cNvPr id="68" name="Text 66"/>
          <p:cNvSpPr/>
          <p:nvPr/>
        </p:nvSpPr>
        <p:spPr>
          <a:xfrm>
            <a:off x="877824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0B8"/>
                </a:solidFill>
              </a:rPr>
              <a:t>10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320040" y="4800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5E0"/>
                </a:solidFill>
              </a:rPr>
              <a:t>DevOps</a:t>
            </a:r>
            <a:pPr indent="0" marL="0">
              <a:buNone/>
            </a:pPr>
            <a:r>
              <a:rPr lang="en-US" sz="850" dirty="0">
                <a:solidFill>
                  <a:srgbClr val="7A90B8"/>
                </a:solidFill>
              </a:rPr>
              <a:t> Transformation Platform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</a:rPr>
              <a:t>HOW IT 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120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Automated. Trusted. Every week.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1993392" cy="2029968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07008"/>
            <a:ext cx="1993392" cy="64008"/>
          </a:xfrm>
          <a:prstGeom prst="rect">
            <a:avLst/>
          </a:prstGeom>
          <a:solidFill>
            <a:srgbClr val="1E56B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316736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E56B0"/>
                </a:solidFill>
              </a:rPr>
              <a:t>DATA SOURCES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691640"/>
            <a:ext cx="1792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DataSight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GitHub Enterprise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Teambook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77440" y="19202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A90B8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514600" y="1207008"/>
            <a:ext cx="1993392" cy="2029968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207008"/>
            <a:ext cx="1993392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2624328" y="1316736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5A623"/>
                </a:solidFill>
              </a:rPr>
              <a:t>APP REGISTRY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24328" y="1691640"/>
            <a:ext cx="1792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70 app YAML files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Manual Y/N flags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Team ownership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6280" y="19202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A90B8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663440" y="1207008"/>
            <a:ext cx="1993392" cy="2029968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207008"/>
            <a:ext cx="1993392" cy="64008"/>
          </a:xfrm>
          <a:prstGeom prst="rect">
            <a:avLst/>
          </a:prstGeom>
          <a:solidFill>
            <a:srgbClr val="00C5E0"/>
          </a:solidFill>
          <a:ln/>
        </p:spPr>
      </p:sp>
      <p:sp>
        <p:nvSpPr>
          <p:cNvPr id="17" name="Text 15"/>
          <p:cNvSpPr/>
          <p:nvPr/>
        </p:nvSpPr>
        <p:spPr>
          <a:xfrm>
            <a:off x="4773168" y="1316736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00C5E0"/>
                </a:solidFill>
              </a:rPr>
              <a:t>SCORE ENGINE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73168" y="1691640"/>
            <a:ext cx="1792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5-pillar DPI calc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Multi-repo aggregation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Portfolio targets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19202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A90B8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812280" y="1207008"/>
            <a:ext cx="1993392" cy="2029968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1207008"/>
            <a:ext cx="1993392" cy="64008"/>
          </a:xfrm>
          <a:prstGeom prst="rect">
            <a:avLst/>
          </a:prstGeom>
          <a:solidFill>
            <a:srgbClr val="00B87C"/>
          </a:solidFill>
          <a:ln/>
        </p:spPr>
      </p:sp>
      <p:sp>
        <p:nvSpPr>
          <p:cNvPr id="22" name="Text 20"/>
          <p:cNvSpPr/>
          <p:nvPr/>
        </p:nvSpPr>
        <p:spPr>
          <a:xfrm>
            <a:off x="6922008" y="1316736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00B87C"/>
                </a:solidFill>
              </a:rPr>
              <a:t>OUTPUTS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22008" y="1691640"/>
            <a:ext cx="1792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Weekly leaderboard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Team lead alerts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Recommended actions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456432"/>
            <a:ext cx="8412480" cy="1444752"/>
          </a:xfrm>
          <a:prstGeom prst="rect">
            <a:avLst/>
          </a:prstGeom>
          <a:solidFill>
            <a:srgbClr val="0D1E3A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3456432"/>
            <a:ext cx="54864" cy="14447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35112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</a:rPr>
              <a:t>App Registry — The Intelligence Spine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66928" y="3822192"/>
            <a:ext cx="8092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One Git-hosted YAML file per app. Pre-filled from DataSight + Teambook. App owners verify Y/N flags during champion interviews (2-day sprint). PR-gated — champion approves all changes. The registry is the source of truth for everything the automated tools cannot detect.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" y="4608576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0C5E0"/>
                </a:solidFill>
              </a:rPr>
              <a:t>Time to populate all 70 apps: 2 days of champion interviews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77824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0B8"/>
                </a:solidFill>
              </a:rPr>
              <a:t>11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040" y="4800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5E0"/>
                </a:solidFill>
              </a:rPr>
              <a:t>DevOps</a:t>
            </a:r>
            <a:pPr indent="0" marL="0">
              <a:buNone/>
            </a:pPr>
            <a:r>
              <a:rPr lang="en-US" sz="850" dirty="0">
                <a:solidFill>
                  <a:srgbClr val="7A90B8"/>
                </a:solidFill>
              </a:rPr>
              <a:t> Transformation Platform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45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4545"/>
                </a:solidFill>
              </a:rPr>
              <a:t>EXECUTION 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120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3–4 people. First leaderboard in 2 weeks.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2048256" cy="1664208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2801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75488" y="1700784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Data Engineer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5488" y="1975104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5E0"/>
                </a:solidFill>
              </a:rPr>
              <a:t>DataSight + Teambook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5488" y="2231136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8"/>
                </a:solidFill>
              </a:rPr>
              <a:t>Connect APIs · Pre-fill registry stubs · Scoring pipeline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42032" y="1207008"/>
            <a:ext cx="2048256" cy="1664208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51760" y="12801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🐙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51760" y="1700784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GitHub Engineer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651760" y="1975104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5E0"/>
                </a:solidFill>
              </a:rPr>
              <a:t>Hygiene checker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651760" y="2231136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8"/>
                </a:solidFill>
              </a:rPr>
              <a:t>GitHub API · Hygiene checks · Multi-org support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18304" y="1207008"/>
            <a:ext cx="2048256" cy="1664208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28032" y="12801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28032" y="1700784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Registry Lead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28032" y="1975104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5E0"/>
                </a:solidFill>
              </a:rPr>
              <a:t>App intake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28032" y="2231136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8"/>
                </a:solidFill>
              </a:rPr>
              <a:t>70 interview files · YAML conversion · Validation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94576" y="1207008"/>
            <a:ext cx="2048256" cy="1664208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04304" y="12801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004304" y="1700784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Score &amp; UX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004304" y="1975104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5E0"/>
                </a:solidFill>
              </a:rPr>
              <a:t>Engine + Leaderboard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004304" y="2231136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8"/>
                </a:solidFill>
              </a:rPr>
              <a:t>Score engine · HTML leaderboard · Alerts + badges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035808"/>
            <a:ext cx="8412480" cy="73152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6" name="Shape 24"/>
          <p:cNvSpPr/>
          <p:nvPr/>
        </p:nvSpPr>
        <p:spPr>
          <a:xfrm>
            <a:off x="1078992" y="2990088"/>
            <a:ext cx="164592" cy="164592"/>
          </a:xfrm>
          <a:prstGeom prst="rect">
            <a:avLst/>
          </a:prstGeom>
          <a:solidFill>
            <a:srgbClr val="E84545"/>
          </a:solidFill>
          <a:ln/>
        </p:spPr>
      </p:sp>
      <p:sp>
        <p:nvSpPr>
          <p:cNvPr id="27" name="Shape 25"/>
          <p:cNvSpPr/>
          <p:nvPr/>
        </p:nvSpPr>
        <p:spPr>
          <a:xfrm>
            <a:off x="1152144" y="3072384"/>
            <a:ext cx="18288" cy="731520"/>
          </a:xfrm>
          <a:prstGeom prst="rect">
            <a:avLst/>
          </a:prstGeom>
          <a:solidFill>
            <a:srgbClr val="E84545">
              <a:alpha val="4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" y="38221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4545"/>
                </a:solidFill>
              </a:rPr>
              <a:t>Day 1–2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8912" y="405993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App owner interviews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61488" y="2990088"/>
            <a:ext cx="164592" cy="164592"/>
          </a:xfrm>
          <a:prstGeom prst="rect">
            <a:avLst/>
          </a:prstGeom>
          <a:solidFill>
            <a:srgbClr val="1E56B0"/>
          </a:solidFill>
          <a:ln/>
        </p:spPr>
      </p:sp>
      <p:sp>
        <p:nvSpPr>
          <p:cNvPr id="31" name="Shape 29"/>
          <p:cNvSpPr/>
          <p:nvPr/>
        </p:nvSpPr>
        <p:spPr>
          <a:xfrm>
            <a:off x="2834640" y="3072384"/>
            <a:ext cx="18288" cy="731520"/>
          </a:xfrm>
          <a:prstGeom prst="rect">
            <a:avLst/>
          </a:prstGeom>
          <a:solidFill>
            <a:srgbClr val="1E56B0">
              <a:alpha val="4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2157984" y="38221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56B0"/>
                </a:solidFill>
              </a:rPr>
              <a:t>Week 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121408" y="405993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Data connectors live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443984" y="2990088"/>
            <a:ext cx="164592" cy="164592"/>
          </a:xfrm>
          <a:prstGeom prst="rect">
            <a:avLst/>
          </a:prstGeom>
          <a:solidFill>
            <a:srgbClr val="00C5E0"/>
          </a:solidFill>
          <a:ln/>
        </p:spPr>
      </p:sp>
      <p:sp>
        <p:nvSpPr>
          <p:cNvPr id="35" name="Shape 33"/>
          <p:cNvSpPr/>
          <p:nvPr/>
        </p:nvSpPr>
        <p:spPr>
          <a:xfrm>
            <a:off x="4517136" y="3072384"/>
            <a:ext cx="18288" cy="731520"/>
          </a:xfrm>
          <a:prstGeom prst="rect">
            <a:avLst/>
          </a:prstGeom>
          <a:solidFill>
            <a:srgbClr val="00C5E0">
              <a:alpha val="4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3840480" y="38221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5E0"/>
                </a:solidFill>
              </a:rPr>
              <a:t>Week 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803904" y="405993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First leaderboard 🎉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26480" y="2990088"/>
            <a:ext cx="164592" cy="1645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9" name="Shape 37"/>
          <p:cNvSpPr/>
          <p:nvPr/>
        </p:nvSpPr>
        <p:spPr>
          <a:xfrm>
            <a:off x="6199632" y="3072384"/>
            <a:ext cx="18288" cy="731520"/>
          </a:xfrm>
          <a:prstGeom prst="rect">
            <a:avLst/>
          </a:prstGeom>
          <a:solidFill>
            <a:srgbClr val="F5A623">
              <a:alpha val="4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522976" y="38221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Week 3–4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86400" y="405993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Full DPI score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808976" y="2990088"/>
            <a:ext cx="164592" cy="164592"/>
          </a:xfrm>
          <a:prstGeom prst="rect">
            <a:avLst/>
          </a:prstGeom>
          <a:solidFill>
            <a:srgbClr val="00B87C"/>
          </a:solidFill>
          <a:ln/>
        </p:spPr>
      </p:sp>
      <p:sp>
        <p:nvSpPr>
          <p:cNvPr id="43" name="Shape 41"/>
          <p:cNvSpPr/>
          <p:nvPr/>
        </p:nvSpPr>
        <p:spPr>
          <a:xfrm>
            <a:off x="7882128" y="3072384"/>
            <a:ext cx="18288" cy="731520"/>
          </a:xfrm>
          <a:prstGeom prst="rect">
            <a:avLst/>
          </a:prstGeom>
          <a:solidFill>
            <a:srgbClr val="00B87C">
              <a:alpha val="4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7205472" y="38221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87C"/>
                </a:solidFill>
              </a:rPr>
              <a:t>Month 2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168896" y="405993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All 5 pillars + gamification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77824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0B8"/>
                </a:solidFill>
              </a:rPr>
              <a:t>12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20040" y="4800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5E0"/>
                </a:solidFill>
              </a:rPr>
              <a:t>DevOps</a:t>
            </a:r>
            <a:pPr indent="0" marL="0">
              <a:buNone/>
            </a:pPr>
            <a:r>
              <a:rPr lang="en-US" sz="850" dirty="0">
                <a:solidFill>
                  <a:srgbClr val="7A90B8"/>
                </a:solidFill>
              </a:rPr>
              <a:t> Transformation Platform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A623"/>
                </a:solidFill>
              </a:rPr>
              <a:t>OUR ASK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120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need from leadership to succeed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4224528" cy="1170432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07008"/>
            <a:ext cx="4224528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16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9264" y="1335024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Mandate &amp; Authority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9264" y="1645920"/>
            <a:ext cx="3493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B8"/>
                </a:solidFill>
              </a:rPr>
              <a:t>Endorse the DPI score as the official DevOps performance metric for the service line. Champion must have authority to set team targets and escalate non-compliance.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207008"/>
            <a:ext cx="4224528" cy="1170432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07008"/>
            <a:ext cx="4224528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316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58384" y="1335024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3–4 Person Team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58384" y="1645920"/>
            <a:ext cx="3493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B8"/>
                </a:solidFill>
              </a:rPr>
              <a:t>Allocate 3–4 engineers for the initial 4-week build sprint. After launch, 1 person maintains the platform. This is not a long-running large team.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523744"/>
            <a:ext cx="4224528" cy="1170432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523744"/>
            <a:ext cx="4224528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633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9264" y="2651760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DataSight API Access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69264" y="2962656"/>
            <a:ext cx="3493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B8"/>
                </a:solidFill>
              </a:rPr>
              <a:t>Read access to DataSight APIs for RF, LTDD, CFR, and MTTR per app. This is the primary data source — without it, Velocity scoring is manual.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523744"/>
            <a:ext cx="4224528" cy="1170432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523744"/>
            <a:ext cx="4224528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2633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58384" y="2651760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Incentive Budget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358384" y="2962656"/>
            <a:ext cx="3493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B8"/>
                </a:solidFill>
              </a:rPr>
              <a:t>Small budget for Elite League rewards — team outings, tooling budget allocations. This is what makes competition real. Does not need to be large.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840480"/>
            <a:ext cx="4224528" cy="1170432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840480"/>
            <a:ext cx="4224528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950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📢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69264" y="3968496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Executive Visibility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69264" y="4279392"/>
            <a:ext cx="3493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B8"/>
                </a:solidFill>
              </a:rPr>
              <a:t>Champion presents monthly DPI progress to leadership. Leaderboard shared with all service line leaders. Healthy competition needs visible stakes.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840480"/>
            <a:ext cx="4224528" cy="1170432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840480"/>
            <a:ext cx="4224528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3950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358384" y="3968496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Remove Blockers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358384" y="4279392"/>
            <a:ext cx="3493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B8"/>
                </a:solidFill>
              </a:rPr>
              <a:t>Commit to removing redundant controls, legacy approval gates, and privileged access requirements that the analysis identifies as systemic blockers across multiple teams.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77824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0B8"/>
                </a:solidFill>
              </a:rPr>
              <a:t>13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0040" y="4800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5E0"/>
                </a:solidFill>
              </a:rPr>
              <a:t>DevOps</a:t>
            </a:r>
            <a:pPr indent="0" marL="0">
              <a:buNone/>
            </a:pPr>
            <a:r>
              <a:rPr lang="en-US" sz="850" dirty="0">
                <a:solidFill>
                  <a:srgbClr val="7A90B8"/>
                </a:solidFill>
              </a:rPr>
              <a:t> Transformation Platform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5E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5E0"/>
                </a:solidFill>
              </a:rPr>
              <a:t>THE TRANSFORMATION IN NUMBERS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120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success looks like by December 2026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07008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5669280" y="1207008"/>
          <a:ext cx="31089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4553712"/>
            <a:ext cx="8412480" cy="384048"/>
          </a:xfrm>
          <a:prstGeom prst="rect">
            <a:avLst/>
          </a:prstGeom>
          <a:solidFill>
            <a:srgbClr val="0D1E3A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45902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5E0"/>
                </a:solidFill>
              </a:rPr>
              <a:t>Target: RF 280/month  ·  LTDD 1.8 days  ·  70 teams in Elite or Pro league  ·  Platform self-sustaining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77824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0B8"/>
                </a:solidFill>
              </a:rPr>
              <a:t>14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20040" y="4800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5E0"/>
                </a:solidFill>
              </a:rPr>
              <a:t>DevOps</a:t>
            </a:r>
            <a:pPr indent="0" marL="0">
              <a:buNone/>
            </a:pPr>
            <a:r>
              <a:rPr lang="en-US" sz="850" dirty="0">
                <a:solidFill>
                  <a:srgbClr val="7A90B8"/>
                </a:solidFill>
              </a:rPr>
              <a:t> Transformation Platform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E3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E56B0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5E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5E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94360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4048" y="17373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teams are ready.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384048" y="23774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0C5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data is available.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384048" y="301752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platform is built.</a:t>
            </a:r>
            <a:endParaRPr lang="en-US" sz="5000" dirty="0"/>
          </a:p>
        </p:txBody>
      </p:sp>
      <p:sp>
        <p:nvSpPr>
          <p:cNvPr id="10" name="Text 7"/>
          <p:cNvSpPr/>
          <p:nvPr/>
        </p:nvSpPr>
        <p:spPr>
          <a:xfrm>
            <a:off x="384048" y="38221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A90B8"/>
                </a:solidFill>
              </a:rPr>
              <a:t>All we need is the mandate to start. Week 3 could be our first leaderboard.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0" y="4681728"/>
            <a:ext cx="9144000" cy="38404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2" name="Text 9"/>
          <p:cNvSpPr/>
          <p:nvPr/>
        </p:nvSpPr>
        <p:spPr>
          <a:xfrm>
            <a:off x="320040" y="472744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0B8"/>
                </a:solidFill>
              </a:rPr>
              <a:t>DevOps Transformation Platform  ·  DevOps Performance Index  ·  March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778240" y="4846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0B8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 Transformation Platform — Leadership Pitch</dc:title>
  <dc:subject>PptxGenJS Presentation</dc:subject>
  <dc:creator>DevOps Champion</dc:creator>
  <cp:lastModifiedBy>DevOps Champion</cp:lastModifiedBy>
  <cp:revision>1</cp:revision>
  <dcterms:created xsi:type="dcterms:W3CDTF">2026-03-15T15:58:18Z</dcterms:created>
  <dcterms:modified xsi:type="dcterms:W3CDTF">2026-03-15T15:58:18Z</dcterms:modified>
</cp:coreProperties>
</file>